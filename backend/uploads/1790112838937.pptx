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06" r:id="rId1"/>
  </p:sldMasterIdLst>
  <p:sldIdLst>
    <p:sldId id="256" r:id="rId2"/>
    <p:sldId id="287" r:id="rId3"/>
    <p:sldId id="296" r:id="rId4"/>
    <p:sldId id="288" r:id="rId5"/>
    <p:sldId id="289" r:id="rId6"/>
    <p:sldId id="290" r:id="rId7"/>
    <p:sldId id="291" r:id="rId8"/>
    <p:sldId id="293" r:id="rId9"/>
    <p:sldId id="294" r:id="rId10"/>
    <p:sldId id="295" r:id="rId11"/>
    <p:sldId id="292" r:id="rId12"/>
    <p:sldId id="297" r:id="rId13"/>
    <p:sldId id="299" r:id="rId14"/>
    <p:sldId id="301" r:id="rId15"/>
    <p:sldId id="298" r:id="rId16"/>
    <p:sldId id="300" r:id="rId17"/>
    <p:sldId id="266" r:id="rId18"/>
  </p:sldIdLst>
  <p:sldSz cx="9144000" cy="5143500" type="screen16x9"/>
  <p:notesSz cx="9144000" cy="5143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D308D8-40AC-4854-A9B9-D9CD259F3098}" v="47" dt="2025-08-05T04:32:10.200"/>
    <p1510:client id="{C4FEDC2F-829C-4BB0-B885-826CC65B4E75}" v="201" dt="2025-08-04T08:41:37.17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27" autoAdjust="0"/>
    <p:restoredTop sz="94660"/>
  </p:normalViewPr>
  <p:slideViewPr>
    <p:cSldViewPr>
      <p:cViewPr varScale="1">
        <p:scale>
          <a:sx n="103" d="100"/>
          <a:sy n="103" d="100"/>
        </p:scale>
        <p:origin x="1138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2700" y="0"/>
            <a:ext cx="9173370" cy="5142161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9" y="1403349"/>
            <a:ext cx="5111752" cy="1136650"/>
          </a:xfrm>
        </p:spPr>
        <p:txBody>
          <a:bodyPr anchor="b">
            <a:noAutofit/>
          </a:bodyPr>
          <a:lstStyle>
            <a:lvl1pPr algn="ctr">
              <a:defRPr sz="405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9" y="2743198"/>
            <a:ext cx="5111752" cy="990602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7425" y="3778247"/>
            <a:ext cx="673100" cy="209550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9298" y="3778247"/>
            <a:ext cx="3910976" cy="20955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7676" y="3778247"/>
            <a:ext cx="413375" cy="209550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299" y="2641598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2502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067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02" y="1314454"/>
            <a:ext cx="6119016" cy="1366886"/>
          </a:xfrm>
        </p:spPr>
        <p:txBody>
          <a:bodyPr anchor="b">
            <a:normAutofit/>
          </a:bodyPr>
          <a:lstStyle>
            <a:lvl1pPr algn="ctr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300" y="2884539"/>
            <a:ext cx="6119018" cy="71591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509542" y="2782939"/>
            <a:ext cx="612253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467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836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008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931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5503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5503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622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736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677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359" y="1041401"/>
            <a:ext cx="2788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1" y="736599"/>
            <a:ext cx="4102100" cy="367030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359" y="2273299"/>
            <a:ext cx="2788841" cy="1828803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047127" y="2184400"/>
            <a:ext cx="26358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21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49" y="1412874"/>
            <a:ext cx="4681362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71124" y="781050"/>
            <a:ext cx="2297510" cy="35814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49" y="2441574"/>
            <a:ext cx="4681362" cy="1371600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765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3611561"/>
            <a:ext cx="7207250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1070" y="781050"/>
            <a:ext cx="7579479" cy="2501902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1" y="4036615"/>
            <a:ext cx="7207250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837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1" y="736599"/>
            <a:ext cx="7194549" cy="2216151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901" y="3257550"/>
            <a:ext cx="7194549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446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77800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43815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5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257550"/>
            <a:ext cx="7207250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0200" y="21209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9847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2481436"/>
            <a:ext cx="7207251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3036"/>
            <a:ext cx="720725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8093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68275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9484"/>
            <a:ext cx="7207251" cy="66522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397250"/>
            <a:ext cx="7207251" cy="10096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200" y="1949446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7729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7250" cy="168275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2626"/>
            <a:ext cx="7207251" cy="63093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3352800"/>
            <a:ext cx="7207253" cy="10541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332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2259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518" y="736599"/>
            <a:ext cx="1418171" cy="3670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49" y="736599"/>
            <a:ext cx="5574769" cy="36703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6647918" y="742950"/>
            <a:ext cx="0" cy="36576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8623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802" y="0"/>
            <a:ext cx="9172472" cy="5142161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2" y="736600"/>
            <a:ext cx="7200897" cy="9779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1917699"/>
            <a:ext cx="7200897" cy="24892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290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  <p:sldLayoutId id="2147483818" r:id="rId12"/>
    <p:sldLayoutId id="2147483819" r:id="rId13"/>
    <p:sldLayoutId id="2147483820" r:id="rId14"/>
    <p:sldLayoutId id="2147483821" r:id="rId15"/>
    <p:sldLayoutId id="2147483822" r:id="rId16"/>
    <p:sldLayoutId id="2147483823" r:id="rId17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5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3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1993275"/>
            <a:ext cx="8153400" cy="2559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23110">
              <a:lnSpc>
                <a:spcPts val="2400"/>
              </a:lnSpc>
              <a:spcBef>
                <a:spcPts val="25"/>
              </a:spcBef>
            </a:pPr>
            <a:r>
              <a:rPr sz="1800" b="1" dirty="0">
                <a:latin typeface="Calibri"/>
                <a:cs typeface="Calibri"/>
              </a:rPr>
              <a:t>COURSE</a:t>
            </a:r>
            <a:r>
              <a:rPr sz="1800" b="1" spc="-10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NAME:</a:t>
            </a:r>
            <a:r>
              <a:rPr lang="en-US" sz="1800" b="1" dirty="0">
                <a:solidFill>
                  <a:srgbClr val="002060"/>
                </a:solidFill>
                <a:latin typeface="Calibri"/>
                <a:cs typeface="Calibri"/>
              </a:rPr>
              <a:t>INTRODUCTION TO INDUSTRIAL MANAGEMENT</a:t>
            </a:r>
          </a:p>
          <a:p>
            <a:pPr marL="12700" marR="2023110">
              <a:lnSpc>
                <a:spcPts val="2400"/>
              </a:lnSpc>
              <a:spcBef>
                <a:spcPts val="25"/>
              </a:spcBef>
            </a:pPr>
            <a:r>
              <a:rPr sz="1800" b="1" spc="-10" dirty="0">
                <a:latin typeface="Calibri"/>
                <a:cs typeface="Calibri"/>
              </a:rPr>
              <a:t>CODE:</a:t>
            </a:r>
            <a:r>
              <a:rPr lang="en-US" sz="1800" b="1" spc="-10" dirty="0">
                <a:solidFill>
                  <a:srgbClr val="002060"/>
                </a:solidFill>
                <a:latin typeface="Calibri"/>
                <a:cs typeface="Calibri"/>
              </a:rPr>
              <a:t>HS-MC-501</a:t>
            </a:r>
            <a:endParaRPr sz="1800" dirty="0">
              <a:solidFill>
                <a:srgbClr val="002060"/>
              </a:solidFill>
              <a:latin typeface="Calibri"/>
              <a:cs typeface="Calibri"/>
            </a:endParaRPr>
          </a:p>
          <a:p>
            <a:pPr marL="12700">
              <a:lnSpc>
                <a:spcPts val="2075"/>
              </a:lnSpc>
            </a:pPr>
            <a:r>
              <a:rPr sz="1800" b="1" dirty="0">
                <a:latin typeface="Calibri"/>
                <a:cs typeface="Calibri"/>
              </a:rPr>
              <a:t>NAME: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145" dirty="0">
                <a:solidFill>
                  <a:srgbClr val="001F5F"/>
                </a:solidFill>
                <a:latin typeface="Calibri"/>
                <a:cs typeface="Calibri"/>
              </a:rPr>
              <a:t>AYAN</a:t>
            </a:r>
            <a:r>
              <a:rPr sz="1800" b="1" spc="-19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001F5F"/>
                </a:solidFill>
                <a:latin typeface="Calibri"/>
                <a:cs typeface="Calibri"/>
              </a:rPr>
              <a:t>GHOSH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UNIVERSITY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ROLL:</a:t>
            </a:r>
            <a:r>
              <a:rPr sz="1800" b="1" spc="-10" dirty="0">
                <a:solidFill>
                  <a:srgbClr val="001F5F"/>
                </a:solidFill>
                <a:latin typeface="Calibri"/>
                <a:cs typeface="Calibri"/>
              </a:rPr>
              <a:t>28100123014</a:t>
            </a: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spc="-50" dirty="0">
                <a:latin typeface="Calibri"/>
                <a:cs typeface="Calibri"/>
              </a:rPr>
              <a:t>REGISTRATION</a:t>
            </a:r>
            <a:r>
              <a:rPr sz="1800" b="1" spc="-2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NO: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Calibri"/>
                <a:cs typeface="Calibri"/>
              </a:rPr>
              <a:t>232810110045</a:t>
            </a:r>
            <a:endParaRPr sz="1800" dirty="0">
              <a:latin typeface="Calibri"/>
              <a:cs typeface="Calibri"/>
            </a:endParaRPr>
          </a:p>
          <a:p>
            <a:pPr marL="12700" marR="991235">
              <a:lnSpc>
                <a:spcPct val="100000"/>
              </a:lnSpc>
            </a:pPr>
            <a:r>
              <a:rPr sz="1800" b="1" spc="-50" dirty="0">
                <a:latin typeface="Calibri"/>
                <a:cs typeface="Calibri"/>
              </a:rPr>
              <a:t>DEPARTMENT: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COMPUTER</a:t>
            </a:r>
            <a:r>
              <a:rPr sz="1800" b="1" spc="-8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SCIENCE</a:t>
            </a:r>
            <a:r>
              <a:rPr sz="1800" b="1" spc="-5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libri"/>
                <a:cs typeface="Calibri"/>
              </a:rPr>
              <a:t>&amp;</a:t>
            </a:r>
            <a:r>
              <a:rPr sz="1800" b="1" spc="-7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1F5F"/>
                </a:solidFill>
                <a:latin typeface="Calibri"/>
                <a:cs typeface="Calibri"/>
              </a:rPr>
              <a:t>ENGINEERING</a:t>
            </a:r>
            <a:endParaRPr lang="en-US" b="1" spc="-10" dirty="0">
              <a:solidFill>
                <a:srgbClr val="001F5F"/>
              </a:solidFill>
              <a:latin typeface="Calibri"/>
              <a:cs typeface="Calibri"/>
            </a:endParaRPr>
          </a:p>
          <a:p>
            <a:pPr marL="12700" marR="991235">
              <a:lnSpc>
                <a:spcPct val="100000"/>
              </a:lnSpc>
            </a:pPr>
            <a:r>
              <a:rPr sz="1800" b="1" spc="-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PRESENT</a:t>
            </a:r>
            <a:r>
              <a:rPr sz="1800" b="1" spc="-2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SEMESTER:</a:t>
            </a:r>
            <a:r>
              <a:rPr lang="en-US" sz="1800" b="1" spc="-10" dirty="0">
                <a:solidFill>
                  <a:srgbClr val="002060"/>
                </a:solidFill>
                <a:latin typeface="Calibri"/>
                <a:cs typeface="Calibri"/>
              </a:rPr>
              <a:t>5th</a:t>
            </a:r>
            <a:endParaRPr sz="1800" dirty="0">
              <a:solidFill>
                <a:srgbClr val="002060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YEAR:</a:t>
            </a:r>
            <a:r>
              <a:rPr lang="en-US" sz="1800" b="1" spc="-10" dirty="0">
                <a:solidFill>
                  <a:srgbClr val="002060"/>
                </a:solidFill>
                <a:latin typeface="Calibri"/>
                <a:cs typeface="Calibri"/>
              </a:rPr>
              <a:t>3rd</a:t>
            </a:r>
            <a:endParaRPr sz="1800" dirty="0">
              <a:solidFill>
                <a:srgbClr val="002060"/>
              </a:solidFill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Calibri"/>
                <a:cs typeface="Calibri"/>
              </a:rPr>
              <a:t>SESSION: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b="1" spc="-30" dirty="0">
                <a:solidFill>
                  <a:srgbClr val="001F5F"/>
                </a:solidFill>
                <a:latin typeface="Calibri"/>
                <a:cs typeface="Calibri"/>
              </a:rPr>
              <a:t>2023-</a:t>
            </a:r>
            <a:r>
              <a:rPr sz="1800" b="1" spc="-25" dirty="0">
                <a:solidFill>
                  <a:srgbClr val="001F5F"/>
                </a:solidFill>
                <a:latin typeface="Calibri"/>
                <a:cs typeface="Calibri"/>
              </a:rPr>
              <a:t>27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5800" y="624146"/>
            <a:ext cx="751713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0" u="none" spc="-10" dirty="0">
                <a:solidFill>
                  <a:srgbClr val="00B050"/>
                </a:solidFill>
                <a:latin typeface="Calibri"/>
                <a:cs typeface="Calibri"/>
              </a:rPr>
              <a:t>GARGI</a:t>
            </a:r>
            <a:r>
              <a:rPr b="0" u="none" spc="-1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b="0" u="none" spc="-10" dirty="0">
                <a:solidFill>
                  <a:srgbClr val="00B050"/>
                </a:solidFill>
                <a:latin typeface="Calibri"/>
                <a:cs typeface="Calibri"/>
              </a:rPr>
              <a:t>MEMORIAL</a:t>
            </a:r>
            <a:r>
              <a:rPr b="0" u="none" spc="-15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b="0" u="none" spc="-10" dirty="0">
                <a:solidFill>
                  <a:srgbClr val="00B050"/>
                </a:solidFill>
                <a:latin typeface="Calibri"/>
                <a:cs typeface="Calibri"/>
              </a:rPr>
              <a:t>INSTITUTE</a:t>
            </a:r>
            <a:r>
              <a:rPr b="0" u="none" spc="-3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b="0" u="none" spc="-10" dirty="0">
                <a:solidFill>
                  <a:srgbClr val="00B050"/>
                </a:solidFill>
                <a:latin typeface="Calibri"/>
                <a:cs typeface="Calibri"/>
              </a:rPr>
              <a:t>OF</a:t>
            </a:r>
            <a:r>
              <a:rPr b="0" u="none" spc="-13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b="0" u="none" spc="-10" dirty="0">
                <a:solidFill>
                  <a:srgbClr val="00B050"/>
                </a:solidFill>
                <a:latin typeface="Calibri"/>
                <a:cs typeface="Calibri"/>
              </a:rPr>
              <a:t>TECHNOLOGY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0" y="6095"/>
            <a:ext cx="1828800" cy="81076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25295" cy="9875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A7AC87-F54D-2565-BFB8-17ECC5093D1B}"/>
              </a:ext>
            </a:extLst>
          </p:cNvPr>
          <p:cNvSpPr txBox="1"/>
          <p:nvPr/>
        </p:nvSpPr>
        <p:spPr>
          <a:xfrm>
            <a:off x="685800" y="361950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rgbClr val="002060"/>
                </a:solidFill>
                <a:latin typeface="Algerian" panose="04020705040A02060702" pitchFamily="82" charset="0"/>
              </a:rPr>
              <a:t>TOPIC:</a:t>
            </a:r>
            <a:endParaRPr lang="en-IN" sz="2400" u="sng" dirty="0">
              <a:solidFill>
                <a:srgbClr val="00206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492D55-F015-D3F8-CDBF-D38868CCA7A5}"/>
              </a:ext>
            </a:extLst>
          </p:cNvPr>
          <p:cNvSpPr txBox="1"/>
          <p:nvPr/>
        </p:nvSpPr>
        <p:spPr>
          <a:xfrm>
            <a:off x="1066800" y="1047750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Aptos Display" panose="020B0004020202020204" pitchFamily="34" charset="0"/>
              </a:rPr>
              <a:t>The influence of Organization Structure on Performance and Productivity.</a:t>
            </a:r>
            <a:endParaRPr lang="en-IN" sz="2000" dirty="0">
              <a:solidFill>
                <a:srgbClr val="FF0000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268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32793-8667-BC37-CA49-4B6A9834D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6C998-82F4-2986-8A9C-A54EB9AC7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2" y="666750"/>
            <a:ext cx="7200897" cy="977900"/>
          </a:xfrm>
        </p:spPr>
        <p:txBody>
          <a:bodyPr/>
          <a:lstStyle/>
          <a:p>
            <a:r>
              <a:rPr lang="en-IN" dirty="0"/>
              <a:t> </a:t>
            </a:r>
            <a:r>
              <a:rPr lang="en-IN" sz="3200" dirty="0">
                <a:latin typeface="Algerian" panose="04020705040A02060702" pitchFamily="82" charset="0"/>
              </a:rPr>
              <a:t>Introduction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25A90-F872-47FF-ABFD-9FCB864885D0}"/>
              </a:ext>
            </a:extLst>
          </p:cNvPr>
          <p:cNvSpPr txBox="1"/>
          <p:nvPr/>
        </p:nvSpPr>
        <p:spPr>
          <a:xfrm>
            <a:off x="914400" y="1885950"/>
            <a:ext cx="7010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 Display" panose="020B0004020202020204" pitchFamily="34" charset="0"/>
              </a:rPr>
              <a:t>What is Organizational Structure? The way a company arranges its functions, departments, roles, and reporting relationships to achieve goals.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Why it Matters: </a:t>
            </a:r>
            <a:r>
              <a:rPr lang="en-US" dirty="0">
                <a:latin typeface="Aptos Display" panose="020B0004020202020204" pitchFamily="34" charset="0"/>
              </a:rPr>
              <a:t>Shapes how people work, communicate, and make decisions, ultimately impacting overall performance and productivity.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Key Question: </a:t>
            </a:r>
            <a:r>
              <a:rPr lang="en-US" dirty="0">
                <a:latin typeface="Aptos Display" panose="020B0004020202020204" pitchFamily="34" charset="0"/>
              </a:rPr>
              <a:t>How do different organizational structures affect performance and productivity, and how can businesses optimize them for success?</a:t>
            </a:r>
          </a:p>
        </p:txBody>
      </p:sp>
    </p:spTree>
    <p:extLst>
      <p:ext uri="{BB962C8B-B14F-4D97-AF65-F5344CB8AC3E}">
        <p14:creationId xmlns:p14="http://schemas.microsoft.com/office/powerpoint/2010/main" val="344741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42423-210D-46CF-FC2C-DFA756AAF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2" y="736600"/>
            <a:ext cx="7486648" cy="977900"/>
          </a:xfrm>
        </p:spPr>
        <p:txBody>
          <a:bodyPr>
            <a:noAutofit/>
          </a:bodyPr>
          <a:lstStyle/>
          <a:p>
            <a:r>
              <a:rPr lang="en-IN" sz="2800" dirty="0">
                <a:latin typeface="Algerian" panose="04020705040A02060702" pitchFamily="82" charset="0"/>
              </a:rPr>
              <a:t>Defining Performance and Productivity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2CB73C-B93E-D69B-7EC6-C8749953E03E}"/>
              </a:ext>
            </a:extLst>
          </p:cNvPr>
          <p:cNvSpPr txBox="1"/>
          <p:nvPr/>
        </p:nvSpPr>
        <p:spPr>
          <a:xfrm>
            <a:off x="762000" y="1939826"/>
            <a:ext cx="7162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Performance: </a:t>
            </a:r>
            <a:r>
              <a:rPr lang="en-US" dirty="0">
                <a:latin typeface="Aptos Display" panose="020B0004020202020204" pitchFamily="34" charset="0"/>
              </a:rPr>
              <a:t>Refers to the effectiveness in achieving organizational goals and objectives, often measured by metrics like profitability, return on assets, and goal attainment.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Productivity: </a:t>
            </a:r>
            <a:r>
              <a:rPr lang="en-US" dirty="0">
                <a:latin typeface="Aptos Display" panose="020B0004020202020204" pitchFamily="34" charset="0"/>
              </a:rPr>
              <a:t>The efficiency of producing goods or services, typically measured as output per unit of input (e.g., labor, capital).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The Link: </a:t>
            </a:r>
            <a:r>
              <a:rPr lang="en-US" dirty="0">
                <a:latin typeface="Aptos Display" panose="020B0004020202020204" pitchFamily="34" charset="0"/>
              </a:rPr>
              <a:t>A well-designed organizational structure can significantly enhance both performance and productivity by streamlining processes and fostering a productive work environment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0166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4D5D2-F60C-B416-4233-BD21DD99C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3EDBE-EA26-0E2B-EC51-8D79CD108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Key Elements of Organizational Structure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4FDB2A-806E-119E-4210-9C8B10A8BE9C}"/>
              </a:ext>
            </a:extLst>
          </p:cNvPr>
          <p:cNvSpPr txBox="1"/>
          <p:nvPr/>
        </p:nvSpPr>
        <p:spPr>
          <a:xfrm>
            <a:off x="761999" y="1809750"/>
            <a:ext cx="7410449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latin typeface="Aptos Display" panose="020B0004020202020204" pitchFamily="34" charset="0"/>
              </a:rPr>
              <a:t>Work Specialization: </a:t>
            </a:r>
            <a:r>
              <a:rPr lang="en-US" sz="1600" dirty="0">
                <a:latin typeface="Aptos Display" panose="020B0004020202020204" pitchFamily="34" charset="0"/>
              </a:rPr>
              <a:t>How tasks are divided among employees based on their job descriptions and skills.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latin typeface="Aptos Display" panose="020B0004020202020204" pitchFamily="34" charset="0"/>
              </a:rPr>
              <a:t>Departmentalization:</a:t>
            </a:r>
            <a:r>
              <a:rPr lang="en-US" sz="1600" dirty="0">
                <a:latin typeface="Aptos Display" panose="020B0004020202020204" pitchFamily="34" charset="0"/>
              </a:rPr>
              <a:t> Grouping jobs based on factors like function, product, geography, process, or customer.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latin typeface="Aptos Display" panose="020B0004020202020204" pitchFamily="34" charset="0"/>
              </a:rPr>
              <a:t>Chain of Command: </a:t>
            </a:r>
            <a:r>
              <a:rPr lang="en-US" sz="1600" dirty="0">
                <a:latin typeface="Aptos Display" panose="020B0004020202020204" pitchFamily="34" charset="0"/>
              </a:rPr>
              <a:t>The hierarchy of reporting relationships and decision-making authority.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latin typeface="Aptos Display" panose="020B0004020202020204" pitchFamily="34" charset="0"/>
              </a:rPr>
              <a:t>Span of Control: </a:t>
            </a:r>
            <a:r>
              <a:rPr lang="en-US" sz="1600" dirty="0">
                <a:latin typeface="Aptos Display" panose="020B0004020202020204" pitchFamily="34" charset="0"/>
              </a:rPr>
              <a:t>The number of employees reporting to a single manager.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latin typeface="Aptos Display" panose="020B0004020202020204" pitchFamily="34" charset="0"/>
              </a:rPr>
              <a:t>Centralization/Decentralization: </a:t>
            </a:r>
            <a:r>
              <a:rPr lang="en-US" sz="1600" dirty="0">
                <a:latin typeface="Aptos Display" panose="020B0004020202020204" pitchFamily="34" charset="0"/>
              </a:rPr>
              <a:t>The extent to which decision-making authority is concentrated at higher or lower levels of the organization.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latin typeface="Aptos Display" panose="020B0004020202020204" pitchFamily="34" charset="0"/>
              </a:rPr>
              <a:t>Formalization: </a:t>
            </a:r>
            <a:r>
              <a:rPr lang="en-US" sz="1600" dirty="0">
                <a:latin typeface="Aptos Display" panose="020B0004020202020204" pitchFamily="34" charset="0"/>
              </a:rPr>
              <a:t>The degree to which rules, procedures, and documentation govern work activities</a:t>
            </a:r>
            <a:r>
              <a:rPr lang="en-US" dirty="0">
                <a:latin typeface="Aptos Display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3982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E7BEE-118C-2E51-3DA5-86B5CC735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397E3-BAEF-0F1E-6803-BE5D07275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Functional 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A7DBD6-24C8-0341-0961-C39384BE64C3}"/>
              </a:ext>
            </a:extLst>
          </p:cNvPr>
          <p:cNvSpPr txBox="1"/>
          <p:nvPr/>
        </p:nvSpPr>
        <p:spPr>
          <a:xfrm>
            <a:off x="762000" y="1939826"/>
            <a:ext cx="7086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Definition: </a:t>
            </a:r>
            <a:r>
              <a:rPr lang="en-US" dirty="0">
                <a:latin typeface="Aptos Display" panose="020B0004020202020204" pitchFamily="34" charset="0"/>
              </a:rPr>
              <a:t>Groups employees by specialized functions (e.g., marketing, finance, production).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Strengths: </a:t>
            </a:r>
            <a:r>
              <a:rPr lang="en-US" dirty="0">
                <a:latin typeface="Aptos Display" panose="020B0004020202020204" pitchFamily="34" charset="0"/>
              </a:rPr>
              <a:t>Promotes specialization, efficiency, and deep expertise within departments, according to Effy AI.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Challenges: </a:t>
            </a:r>
            <a:r>
              <a:rPr lang="en-US" dirty="0">
                <a:latin typeface="Aptos Display" panose="020B0004020202020204" pitchFamily="34" charset="0"/>
              </a:rPr>
              <a:t>Can create departmental silos, hindering cross-functional collaboration and slowing down decision-making.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Impact on Productivity: </a:t>
            </a:r>
            <a:r>
              <a:rPr lang="en-US" dirty="0">
                <a:latin typeface="Aptos Display" panose="020B0004020202020204" pitchFamily="34" charset="0"/>
              </a:rPr>
              <a:t>Effective within departments, but coordination across departments can be challenging, potentially causing delays.</a:t>
            </a:r>
          </a:p>
        </p:txBody>
      </p:sp>
    </p:spTree>
    <p:extLst>
      <p:ext uri="{BB962C8B-B14F-4D97-AF65-F5344CB8AC3E}">
        <p14:creationId xmlns:p14="http://schemas.microsoft.com/office/powerpoint/2010/main" val="2422150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9B385-17FA-7341-111E-2AC889349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41B8A-4B0A-46DA-005D-68371F5B9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Divisional 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CE181A-21B4-9862-9752-14D6F5B811E3}"/>
              </a:ext>
            </a:extLst>
          </p:cNvPr>
          <p:cNvSpPr txBox="1"/>
          <p:nvPr/>
        </p:nvSpPr>
        <p:spPr>
          <a:xfrm>
            <a:off x="838200" y="1891427"/>
            <a:ext cx="6781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Definition: </a:t>
            </a:r>
            <a:r>
              <a:rPr lang="en-US" dirty="0">
                <a:latin typeface="Aptos Display" panose="020B0004020202020204" pitchFamily="34" charset="0"/>
              </a:rPr>
              <a:t>Divides the organization into semi-autonomous units based on products, services, or geographic regions.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Strengths: </a:t>
            </a:r>
            <a:r>
              <a:rPr lang="en-US" dirty="0">
                <a:latin typeface="Aptos Display" panose="020B0004020202020204" pitchFamily="34" charset="0"/>
              </a:rPr>
              <a:t>Allows for greater focus and specialization within each division, enabling quick adaptation to market changes.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Challenges: </a:t>
            </a:r>
            <a:r>
              <a:rPr lang="en-US" dirty="0">
                <a:latin typeface="Aptos Display" panose="020B0004020202020204" pitchFamily="34" charset="0"/>
              </a:rPr>
              <a:t>Can lead to duplication of resources and efforts, increasing operational costs.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Impact on Productivity: </a:t>
            </a:r>
            <a:r>
              <a:rPr lang="en-US" dirty="0">
                <a:latin typeface="Aptos Display" panose="020B0004020202020204" pitchFamily="34" charset="0"/>
              </a:rPr>
              <a:t>Divisional structure can enhance responsiveness to local markets but may result in resource inefficiencies.</a:t>
            </a:r>
          </a:p>
        </p:txBody>
      </p:sp>
    </p:spTree>
    <p:extLst>
      <p:ext uri="{BB962C8B-B14F-4D97-AF65-F5344CB8AC3E}">
        <p14:creationId xmlns:p14="http://schemas.microsoft.com/office/powerpoint/2010/main" val="3567130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CFDCC-789D-5AEC-A169-0937D7260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B8344-BC9C-E76B-E383-DBC887398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Matrix 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C35918-406B-28E6-514C-0238C0E15A98}"/>
              </a:ext>
            </a:extLst>
          </p:cNvPr>
          <p:cNvSpPr txBox="1"/>
          <p:nvPr/>
        </p:nvSpPr>
        <p:spPr>
          <a:xfrm>
            <a:off x="762000" y="1809750"/>
            <a:ext cx="7315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Definition: </a:t>
            </a:r>
            <a:r>
              <a:rPr lang="en-US" dirty="0">
                <a:latin typeface="Aptos Display" panose="020B0004020202020204" pitchFamily="34" charset="0"/>
              </a:rPr>
              <a:t>Combines elements of functional and divisional structures, with employees reporting to both functional and project/product managers.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Strengths: </a:t>
            </a:r>
            <a:r>
              <a:rPr lang="en-US" dirty="0">
                <a:latin typeface="Aptos Display" panose="020B0004020202020204" pitchFamily="34" charset="0"/>
              </a:rPr>
              <a:t>Enhances flexibility, resource sharing, and cross-functional collaboration for complex projects, according to Effy AI.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Challenges: </a:t>
            </a:r>
            <a:r>
              <a:rPr lang="en-US" dirty="0">
                <a:latin typeface="Aptos Display" panose="020B0004020202020204" pitchFamily="34" charset="0"/>
              </a:rPr>
              <a:t>Can create complexity and potential conflicts in authority due to dual reporting relationships.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Impact on Productivity: </a:t>
            </a:r>
            <a:r>
              <a:rPr lang="en-US" dirty="0">
                <a:latin typeface="Aptos Display" panose="020B0004020202020204" pitchFamily="34" charset="0"/>
              </a:rPr>
              <a:t>Can lead to faster project delivery and improved communication, but requires strong leadership to manage potential conflicts.</a:t>
            </a:r>
          </a:p>
        </p:txBody>
      </p:sp>
    </p:spTree>
    <p:extLst>
      <p:ext uri="{BB962C8B-B14F-4D97-AF65-F5344CB8AC3E}">
        <p14:creationId xmlns:p14="http://schemas.microsoft.com/office/powerpoint/2010/main" val="1355173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42027-03EF-64E3-BC67-C6D359A96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DF79D-0809-840C-98EC-4981D9980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</a:t>
            </a:r>
            <a:r>
              <a:rPr lang="en-IN" dirty="0">
                <a:latin typeface="Algerian" panose="04020705040A02060702" pitchFamily="82" charset="0"/>
              </a:rPr>
              <a:t>Flat (</a:t>
            </a:r>
            <a:r>
              <a:rPr lang="en-IN" dirty="0" err="1">
                <a:latin typeface="Algerian" panose="04020705040A02060702" pitchFamily="82" charset="0"/>
              </a:rPr>
              <a:t>Flatarchy</a:t>
            </a:r>
            <a:r>
              <a:rPr lang="en-IN" dirty="0">
                <a:latin typeface="Algerian" panose="04020705040A02060702" pitchFamily="82" charset="0"/>
              </a:rPr>
              <a:t>) 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7427B-2957-F8A8-7006-72AE72BBFD02}"/>
              </a:ext>
            </a:extLst>
          </p:cNvPr>
          <p:cNvSpPr txBox="1"/>
          <p:nvPr/>
        </p:nvSpPr>
        <p:spPr>
          <a:xfrm>
            <a:off x="685800" y="1962150"/>
            <a:ext cx="7696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Definition: </a:t>
            </a:r>
            <a:r>
              <a:rPr lang="en-US" dirty="0">
                <a:latin typeface="Aptos Display" panose="020B0004020202020204" pitchFamily="34" charset="0"/>
              </a:rPr>
              <a:t>Minimizes levels of management, promoting open communication and employee autonomy.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Strengths:</a:t>
            </a:r>
            <a:r>
              <a:rPr lang="en-US" dirty="0">
                <a:latin typeface="Aptos Display" panose="020B0004020202020204" pitchFamily="34" charset="0"/>
              </a:rPr>
              <a:t> Encourages quick decision-making, innovation, and stronger team engagement.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Challenges: </a:t>
            </a:r>
            <a:r>
              <a:rPr lang="en-US" dirty="0">
                <a:latin typeface="Aptos Display" panose="020B0004020202020204" pitchFamily="34" charset="0"/>
              </a:rPr>
              <a:t>Can create confusion around roles and responsibilities and become harder to manage as the company grows.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Impact on Productivity:</a:t>
            </a:r>
            <a:r>
              <a:rPr lang="en-US" dirty="0">
                <a:latin typeface="Aptos Display" panose="020B0004020202020204" pitchFamily="34" charset="0"/>
              </a:rPr>
              <a:t> Fosters a collaborative and innovative atmosphere, potentially increasing job satisfaction and motivation.</a:t>
            </a:r>
          </a:p>
        </p:txBody>
      </p:sp>
    </p:spTree>
    <p:extLst>
      <p:ext uri="{BB962C8B-B14F-4D97-AF65-F5344CB8AC3E}">
        <p14:creationId xmlns:p14="http://schemas.microsoft.com/office/powerpoint/2010/main" val="3224745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5C4B5-5281-6A82-82BD-E7DEDDD39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0541C-08F6-B20C-B711-2FF532B16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2" y="666750"/>
            <a:ext cx="7200897" cy="977900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Network Structure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5D7B53-F740-BE3A-EE47-C04447F8DBB8}"/>
              </a:ext>
            </a:extLst>
          </p:cNvPr>
          <p:cNvSpPr txBox="1"/>
          <p:nvPr/>
        </p:nvSpPr>
        <p:spPr>
          <a:xfrm>
            <a:off x="838200" y="1939826"/>
            <a:ext cx="7620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Definition: </a:t>
            </a:r>
            <a:r>
              <a:rPr lang="en-US" dirty="0">
                <a:latin typeface="Aptos Display" panose="020B0004020202020204" pitchFamily="34" charset="0"/>
              </a:rPr>
              <a:t>Highly decentralized, relying on independent entities collaborating to achieve common goals, often involving outsourcing and external partnerships.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Strengths: </a:t>
            </a:r>
            <a:r>
              <a:rPr lang="en-US" dirty="0">
                <a:latin typeface="Aptos Display" panose="020B0004020202020204" pitchFamily="34" charset="0"/>
              </a:rPr>
              <a:t>Reduces expenses, promotes agility and flexibility, and allows leveraging specialized skills from external partners.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Challenges:</a:t>
            </a:r>
            <a:r>
              <a:rPr lang="en-US" dirty="0">
                <a:latin typeface="Aptos Display" panose="020B0004020202020204" pitchFamily="34" charset="0"/>
              </a:rPr>
              <a:t> Maintaining effective coordination and communication across the network can be difficult.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Impact on Productivity: </a:t>
            </a:r>
            <a:r>
              <a:rPr lang="en-US" dirty="0">
                <a:latin typeface="Aptos Display" panose="020B0004020202020204" pitchFamily="34" charset="0"/>
              </a:rPr>
              <a:t>Can lead to quick adaptation to market changes but requires robust management systems for coordination.</a:t>
            </a:r>
          </a:p>
        </p:txBody>
      </p:sp>
    </p:spTree>
    <p:extLst>
      <p:ext uri="{BB962C8B-B14F-4D97-AF65-F5344CB8AC3E}">
        <p14:creationId xmlns:p14="http://schemas.microsoft.com/office/powerpoint/2010/main" val="21804732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B51E9-5FCC-89E6-0984-40E9F7D79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9450"/>
            <a:ext cx="7200897" cy="9779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How Structure Impacts Performance and Productivity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12859B-B697-0B8F-646B-17715D4C60DD}"/>
              </a:ext>
            </a:extLst>
          </p:cNvPr>
          <p:cNvSpPr txBox="1"/>
          <p:nvPr/>
        </p:nvSpPr>
        <p:spPr>
          <a:xfrm>
            <a:off x="685799" y="1809750"/>
            <a:ext cx="73532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Aptos Display" panose="020B0004020202020204" pitchFamily="34" charset="0"/>
              </a:rPr>
              <a:t>Communication Flow:</a:t>
            </a:r>
            <a:r>
              <a:rPr lang="en-US" sz="1400" dirty="0">
                <a:latin typeface="Aptos Display" panose="020B0004020202020204" pitchFamily="34" charset="0"/>
              </a:rPr>
              <a:t> Clear communication channels, defined by the structure, enhance information sharing and collaboration.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Aptos Display" panose="020B0004020202020204" pitchFamily="34" charset="0"/>
              </a:rPr>
              <a:t>Decision-Making: </a:t>
            </a:r>
            <a:r>
              <a:rPr lang="en-US" sz="1400" dirty="0">
                <a:latin typeface="Aptos Display" panose="020B0004020202020204" pitchFamily="34" charset="0"/>
              </a:rPr>
              <a:t>Structure determines who makes decisions, influencing the speed and quality of outcomes.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Aptos Display" panose="020B0004020202020204" pitchFamily="34" charset="0"/>
              </a:rPr>
              <a:t>Employee Morale and Engagement: </a:t>
            </a:r>
            <a:r>
              <a:rPr lang="en-US" sz="1400" dirty="0">
                <a:latin typeface="Aptos Display" panose="020B0004020202020204" pitchFamily="34" charset="0"/>
              </a:rPr>
              <a:t>Structures that empower employees and provide clear roles can boost engagement and motivation.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Aptos Display" panose="020B0004020202020204" pitchFamily="34" charset="0"/>
              </a:rPr>
              <a:t>Resource Allocation: </a:t>
            </a:r>
            <a:r>
              <a:rPr lang="en-US" sz="1400" dirty="0">
                <a:latin typeface="Aptos Display" panose="020B0004020202020204" pitchFamily="34" charset="0"/>
              </a:rPr>
              <a:t>Optimal resource allocation is facilitated by a well-designed structure, preventing waste and ensuring resources align with strategic priorities.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Aptos Display" panose="020B0004020202020204" pitchFamily="34" charset="0"/>
              </a:rPr>
              <a:t>Innovation and Adaptability: </a:t>
            </a:r>
            <a:r>
              <a:rPr lang="en-US" sz="1400" dirty="0">
                <a:latin typeface="Aptos Display" panose="020B0004020202020204" pitchFamily="34" charset="0"/>
              </a:rPr>
              <a:t>Structures supporting autonomy and collaboration can foster innovation and enable quicker responses to change.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Aptos Display" panose="020B0004020202020204" pitchFamily="34" charset="0"/>
              </a:rPr>
              <a:t>Accountability:</a:t>
            </a:r>
            <a:r>
              <a:rPr lang="en-US" sz="1400" dirty="0">
                <a:latin typeface="Aptos Display" panose="020B0004020202020204" pitchFamily="34" charset="0"/>
              </a:rPr>
              <a:t> Clear roles, responsibilities, and reporting lines enhance individual and </a:t>
            </a:r>
            <a:r>
              <a:rPr lang="en-US" dirty="0">
                <a:latin typeface="Aptos Display" panose="020B0004020202020204" pitchFamily="34" charset="0"/>
              </a:rPr>
              <a:t>team </a:t>
            </a:r>
            <a:r>
              <a:rPr lang="en-US" sz="1600" dirty="0">
                <a:latin typeface="Aptos Display" panose="020B0004020202020204" pitchFamily="34" charset="0"/>
              </a:rPr>
              <a:t>accountability.</a:t>
            </a:r>
            <a:endParaRPr lang="en-US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941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BD224-6B12-9016-9254-044C8FAA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 </a:t>
            </a:r>
            <a:r>
              <a:rPr lang="en-US" dirty="0">
                <a:latin typeface="Algerian" panose="04020705040A02060702" pitchFamily="82" charset="0"/>
              </a:rPr>
              <a:t>Best Practices for Optimizing Organizational Structure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16F59-B6B7-0CBD-864C-998BC704F6DE}"/>
              </a:ext>
            </a:extLst>
          </p:cNvPr>
          <p:cNvSpPr txBox="1"/>
          <p:nvPr/>
        </p:nvSpPr>
        <p:spPr>
          <a:xfrm>
            <a:off x="685800" y="1826895"/>
            <a:ext cx="74676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Aptos Display" panose="020B0004020202020204" pitchFamily="34" charset="0"/>
              </a:rPr>
              <a:t>Align Structure with Strategy: </a:t>
            </a:r>
            <a:r>
              <a:rPr lang="en-US" sz="1400" dirty="0">
                <a:latin typeface="Aptos Display" panose="020B0004020202020204" pitchFamily="34" charset="0"/>
              </a:rPr>
              <a:t>Ensure the organizational design directly supports business goals and strategic priorities.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Aptos Display" panose="020B0004020202020204" pitchFamily="34" charset="0"/>
              </a:rPr>
              <a:t>Define Clear Roles and Responsibilities: </a:t>
            </a:r>
            <a:r>
              <a:rPr lang="en-US" sz="1400" dirty="0">
                <a:latin typeface="Aptos Display" panose="020B0004020202020204" pitchFamily="34" charset="0"/>
              </a:rPr>
              <a:t>Enhance clarity to avoid duplication and improve employee effectiveness.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Aptos Display" panose="020B0004020202020204" pitchFamily="34" charset="0"/>
              </a:rPr>
              <a:t>Foster Communication and Collaboration: </a:t>
            </a:r>
            <a:r>
              <a:rPr lang="en-US" sz="1400" dirty="0">
                <a:latin typeface="Aptos Display" panose="020B0004020202020204" pitchFamily="34" charset="0"/>
              </a:rPr>
              <a:t>Implement tools and channels that facilitate seamless information exchange and teamwork.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Aptos Display" panose="020B0004020202020204" pitchFamily="34" charset="0"/>
              </a:rPr>
              <a:t>Empower Employees and Delegate Decision-Making: </a:t>
            </a:r>
            <a:r>
              <a:rPr lang="en-US" sz="1400" dirty="0">
                <a:latin typeface="Aptos Display" panose="020B0004020202020204" pitchFamily="34" charset="0"/>
              </a:rPr>
              <a:t>Boost autonomy, engagement, and innovation by granting employees authority within their roles.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Aptos Display" panose="020B0004020202020204" pitchFamily="34" charset="0"/>
              </a:rPr>
              <a:t>Integrate Technology and Automation: </a:t>
            </a:r>
            <a:r>
              <a:rPr lang="en-US" sz="1400" dirty="0">
                <a:latin typeface="Aptos Display" panose="020B0004020202020204" pitchFamily="34" charset="0"/>
              </a:rPr>
              <a:t>Streamline workflows, improve efficiency, and support data-driven decisions.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b="1" dirty="0">
                <a:latin typeface="Aptos Display" panose="020B0004020202020204" pitchFamily="34" charset="0"/>
              </a:rPr>
              <a:t>Continuously Assess and Adapt: </a:t>
            </a:r>
            <a:r>
              <a:rPr lang="en-US" sz="1400" dirty="0">
                <a:latin typeface="Aptos Display" panose="020B0004020202020204" pitchFamily="34" charset="0"/>
              </a:rPr>
              <a:t>Regularly review and adjust the structure to ensure it remains aligned with evolving needs and market dynamics.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38943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8ABCB-C428-A205-711D-D5C65BF7E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8F32-A903-03B7-C90C-38E762ADD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0550"/>
            <a:ext cx="7200897" cy="9779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Choosing the Right Structure: Key Factors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E53EC1-F415-3AF9-28DB-ADBF4E822A1F}"/>
              </a:ext>
            </a:extLst>
          </p:cNvPr>
          <p:cNvSpPr txBox="1"/>
          <p:nvPr/>
        </p:nvSpPr>
        <p:spPr>
          <a:xfrm>
            <a:off x="685800" y="1797606"/>
            <a:ext cx="762000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latin typeface="Aptos Display" panose="020B0004020202020204" pitchFamily="34" charset="0"/>
              </a:rPr>
              <a:t>Company Size and Scale: </a:t>
            </a:r>
            <a:r>
              <a:rPr lang="en-US" sz="1600" dirty="0">
                <a:latin typeface="Aptos Display" panose="020B0004020202020204" pitchFamily="34" charset="0"/>
              </a:rPr>
              <a:t>Smaller businesses may benefit from flatter structures, while larger companies may need more complexity for effective management.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latin typeface="Aptos Display" panose="020B0004020202020204" pitchFamily="34" charset="0"/>
              </a:rPr>
              <a:t>Business Strategy and Goals: </a:t>
            </a:r>
            <a:r>
              <a:rPr lang="en-US" sz="1600" dirty="0">
                <a:latin typeface="Aptos Display" panose="020B0004020202020204" pitchFamily="34" charset="0"/>
              </a:rPr>
              <a:t>The structure should align with the company's long-term objectives and strategic priorities.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latin typeface="Aptos Display" panose="020B0004020202020204" pitchFamily="34" charset="0"/>
              </a:rPr>
              <a:t>Industry Dynamics: </a:t>
            </a:r>
            <a:r>
              <a:rPr lang="en-US" sz="1600" dirty="0">
                <a:latin typeface="Aptos Display" panose="020B0004020202020204" pitchFamily="34" charset="0"/>
              </a:rPr>
              <a:t>Fast-paced industries may require more agile structures, while stable industries may benefit from defined business units.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latin typeface="Aptos Display" panose="020B0004020202020204" pitchFamily="34" charset="0"/>
              </a:rPr>
              <a:t>Company Culture and Values: </a:t>
            </a:r>
            <a:r>
              <a:rPr lang="en-US" sz="1600" dirty="0">
                <a:latin typeface="Aptos Display" panose="020B0004020202020204" pitchFamily="34" charset="0"/>
              </a:rPr>
              <a:t>A structure that aligns with the company's culture fosters motivation, engagement, and a sense of shared purpose.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b="1" dirty="0">
                <a:latin typeface="Aptos Display" panose="020B0004020202020204" pitchFamily="34" charset="0"/>
              </a:rPr>
              <a:t>Technology Adoption: </a:t>
            </a:r>
            <a:r>
              <a:rPr lang="en-US" sz="1600" dirty="0">
                <a:latin typeface="Aptos Display" panose="020B0004020202020204" pitchFamily="34" charset="0"/>
              </a:rPr>
              <a:t>Embracing technology and automation can influence the optimal structure for streamlining workflows and decision-making.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3255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536C4-8A06-653B-9B67-C65E7EC02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58255-F3A3-A97C-2EBC-3E7EEE612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lgerian" panose="04020705040A02060702" pitchFamily="82" charset="0"/>
              </a:rPr>
              <a:t>Case Studies in Organizational Structure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DD0D05-B525-13F5-70B4-19E517AFEF54}"/>
              </a:ext>
            </a:extLst>
          </p:cNvPr>
          <p:cNvSpPr txBox="1"/>
          <p:nvPr/>
        </p:nvSpPr>
        <p:spPr>
          <a:xfrm>
            <a:off x="762000" y="2092226"/>
            <a:ext cx="7543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Aptos Display" panose="020B0004020202020204" pitchFamily="34" charset="0"/>
              </a:rPr>
              <a:t>Google: </a:t>
            </a:r>
            <a:r>
              <a:rPr lang="en-US" sz="1600" dirty="0">
                <a:latin typeface="Aptos Display" panose="020B0004020202020204" pitchFamily="34" charset="0"/>
              </a:rPr>
              <a:t>Utilizes a flat structure for innovation and agility, empowering employees and fostering creativity.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Aptos Display" panose="020B0004020202020204" pitchFamily="34" charset="0"/>
              </a:rPr>
              <a:t>Amazon: </a:t>
            </a:r>
            <a:r>
              <a:rPr lang="en-US" sz="1600" dirty="0">
                <a:latin typeface="Aptos Display" panose="020B0004020202020204" pitchFamily="34" charset="0"/>
              </a:rPr>
              <a:t>Employs a divisional structure for efficient management of global operations, scaling and enhancing customer experience across markets.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Aptos Display" panose="020B0004020202020204" pitchFamily="34" charset="0"/>
              </a:rPr>
              <a:t>Procter &amp; Gamble (P&amp;G): </a:t>
            </a:r>
            <a:r>
              <a:rPr lang="en-US" sz="1600" dirty="0">
                <a:latin typeface="Aptos Display" panose="020B0004020202020204" pitchFamily="34" charset="0"/>
              </a:rPr>
              <a:t>Leverages a matrix structure for managing diverse product lines and global operations, promoting cross-functional collaboration and efficient resource allocation.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b="1" dirty="0">
                <a:latin typeface="Aptos Display" panose="020B0004020202020204" pitchFamily="34" charset="0"/>
              </a:rPr>
              <a:t>Spotify:</a:t>
            </a:r>
            <a:r>
              <a:rPr lang="en-US" sz="1600" dirty="0">
                <a:latin typeface="Aptos Display" panose="020B0004020202020204" pitchFamily="34" charset="0"/>
              </a:rPr>
              <a:t> Uses a squad and tribe structure for agile collaboration and rapid development in the fast-paced music streaming industry.</a:t>
            </a:r>
          </a:p>
        </p:txBody>
      </p:sp>
    </p:spTree>
    <p:extLst>
      <p:ext uri="{BB962C8B-B14F-4D97-AF65-F5344CB8AC3E}">
        <p14:creationId xmlns:p14="http://schemas.microsoft.com/office/powerpoint/2010/main" val="20646202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F86E4-1F99-5088-C6FD-1A178E079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6AC6E-64B1-C2AA-E6C2-E54F70AF1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552" y="603250"/>
            <a:ext cx="7200897" cy="977900"/>
          </a:xfrm>
        </p:spPr>
        <p:txBody>
          <a:bodyPr/>
          <a:lstStyle/>
          <a:p>
            <a:r>
              <a:rPr lang="en-IN" dirty="0"/>
              <a:t> </a:t>
            </a:r>
            <a:r>
              <a:rPr lang="en-IN" dirty="0">
                <a:latin typeface="Algerian" panose="04020705040A02060702" pitchFamily="82" charset="0"/>
              </a:rPr>
              <a:t>The Role of Leadership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6F6B-F875-2A51-1B18-FDEE454372C7}"/>
              </a:ext>
            </a:extLst>
          </p:cNvPr>
          <p:cNvSpPr txBox="1"/>
          <p:nvPr/>
        </p:nvSpPr>
        <p:spPr>
          <a:xfrm>
            <a:off x="761999" y="1954232"/>
            <a:ext cx="741044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Vision and Communication: </a:t>
            </a:r>
            <a:r>
              <a:rPr lang="en-US" dirty="0">
                <a:latin typeface="Aptos Display" panose="020B0004020202020204" pitchFamily="34" charset="0"/>
              </a:rPr>
              <a:t>Leaders must articulate the strategic rationale behind the organizational structure and its benefits.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Support and Resources: </a:t>
            </a:r>
            <a:r>
              <a:rPr lang="en-US" dirty="0">
                <a:latin typeface="Aptos Display" panose="020B0004020202020204" pitchFamily="34" charset="0"/>
              </a:rPr>
              <a:t>Provide employees with the necessary training, tools, and support to adapt to the structure effectively.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Performance Monitoring and Feedback: </a:t>
            </a:r>
            <a:r>
              <a:rPr lang="en-US" dirty="0">
                <a:latin typeface="Aptos Display" panose="020B0004020202020204" pitchFamily="34" charset="0"/>
              </a:rPr>
              <a:t>Regularly evaluate the structure's effectiveness and provide constructive feedback to employees.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Fostering a Positive Culture: </a:t>
            </a:r>
            <a:r>
              <a:rPr lang="en-US" dirty="0">
                <a:latin typeface="Aptos Display" panose="020B0004020202020204" pitchFamily="34" charset="0"/>
              </a:rPr>
              <a:t>Leaders play a critical role in shaping a culture of trust, transparency, and accountability within the structure.</a:t>
            </a:r>
          </a:p>
          <a:p>
            <a:br>
              <a:rPr lang="en-US" dirty="0">
                <a:latin typeface="Aptos Display" panose="020B0004020202020204" pitchFamily="34" charset="0"/>
              </a:rPr>
            </a:br>
            <a:endParaRPr lang="en-IN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15215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19CF7-D909-0E01-51E5-C1418D5E6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70314-E906-C8E1-9CD8-BCAD063A5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90550"/>
            <a:ext cx="7200897" cy="977900"/>
          </a:xfrm>
        </p:spPr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229C37-E383-58EE-A137-DF7A097D36EB}"/>
              </a:ext>
            </a:extLst>
          </p:cNvPr>
          <p:cNvSpPr txBox="1"/>
          <p:nvPr/>
        </p:nvSpPr>
        <p:spPr>
          <a:xfrm>
            <a:off x="609600" y="1809750"/>
            <a:ext cx="7924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Key Takeaway: </a:t>
            </a:r>
            <a:r>
              <a:rPr lang="en-US" dirty="0">
                <a:latin typeface="Aptos Display" panose="020B0004020202020204" pitchFamily="34" charset="0"/>
              </a:rPr>
              <a:t>Organizational structure is a crucial determinant of an organization's performance and productivity.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Importance of Strategic Alignment: </a:t>
            </a:r>
            <a:r>
              <a:rPr lang="en-US" dirty="0">
                <a:latin typeface="Aptos Display" panose="020B0004020202020204" pitchFamily="34" charset="0"/>
              </a:rPr>
              <a:t>Choosing the right structure and aligning it with strategic goals is essential for success.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Adaptability and Continuous Improvement:</a:t>
            </a:r>
            <a:r>
              <a:rPr lang="en-US" dirty="0">
                <a:latin typeface="Aptos Display" panose="020B0004020202020204" pitchFamily="34" charset="0"/>
              </a:rPr>
              <a:t> Organizations must be willing to adapt and evolve their structures to remain competitive and responsive to change.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latin typeface="Aptos Display" panose="020B0004020202020204" pitchFamily="34" charset="0"/>
              </a:rPr>
              <a:t>Driving Future Success: </a:t>
            </a:r>
            <a:r>
              <a:rPr lang="en-US" dirty="0">
                <a:latin typeface="Aptos Display" panose="020B0004020202020204" pitchFamily="34" charset="0"/>
              </a:rPr>
              <a:t>A well-designed and optimized organizational structure can unleash employee potential, foster innovation, and drive long-term growth and prosperity.</a:t>
            </a:r>
          </a:p>
        </p:txBody>
      </p:sp>
    </p:spTree>
    <p:extLst>
      <p:ext uri="{BB962C8B-B14F-4D97-AF65-F5344CB8AC3E}">
        <p14:creationId xmlns:p14="http://schemas.microsoft.com/office/powerpoint/2010/main" val="1387632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5595" y="2378075"/>
            <a:ext cx="24784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u="none" spc="-200" dirty="0">
                <a:solidFill>
                  <a:srgbClr val="002060"/>
                </a:solidFill>
                <a:latin typeface="Algerian" panose="04020705040A02060702" pitchFamily="82" charset="0"/>
                <a:cs typeface="Times New Roman"/>
              </a:rPr>
              <a:t>THANK</a:t>
            </a:r>
            <a:r>
              <a:rPr sz="3600" b="0" u="none" spc="5" dirty="0">
                <a:solidFill>
                  <a:srgbClr val="002060"/>
                </a:solidFill>
                <a:latin typeface="Algerian" panose="04020705040A02060702" pitchFamily="82" charset="0"/>
                <a:cs typeface="Times New Roman"/>
              </a:rPr>
              <a:t> </a:t>
            </a:r>
            <a:r>
              <a:rPr sz="3600" b="0" u="none" spc="-395" dirty="0">
                <a:solidFill>
                  <a:srgbClr val="002060"/>
                </a:solidFill>
                <a:latin typeface="Algerian" panose="04020705040A02060702" pitchFamily="82" charset="0"/>
                <a:cs typeface="Times New Roman"/>
              </a:rPr>
              <a:t>YOU</a:t>
            </a:r>
            <a:endParaRPr sz="3600" dirty="0">
              <a:solidFill>
                <a:srgbClr val="002060"/>
              </a:solidFill>
              <a:latin typeface="Algerian" panose="04020705040A02060702" pitchFamily="82" charset="0"/>
              <a:cs typeface="Times New Roman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839</TotalTime>
  <Words>1305</Words>
  <Application>Microsoft Office PowerPoint</Application>
  <PresentationFormat>On-screen Show (16:9)</PresentationFormat>
  <Paragraphs>89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Algerian</vt:lpstr>
      <vt:lpstr>Aptos Display</vt:lpstr>
      <vt:lpstr>Arial</vt:lpstr>
      <vt:lpstr>Calibri</vt:lpstr>
      <vt:lpstr>Garamond</vt:lpstr>
      <vt:lpstr>Wingdings</vt:lpstr>
      <vt:lpstr>Organic</vt:lpstr>
      <vt:lpstr>GARGI MEMORIAL INSTITUTE OF TECHNOLOGY</vt:lpstr>
      <vt:lpstr>PowerPoint Presentation</vt:lpstr>
      <vt:lpstr> Introduction</vt:lpstr>
      <vt:lpstr>Defining Performance and Productivity</vt:lpstr>
      <vt:lpstr>Key Elements of Organizational Structure</vt:lpstr>
      <vt:lpstr>Functional Structure</vt:lpstr>
      <vt:lpstr>Divisional Structure</vt:lpstr>
      <vt:lpstr>Matrix Structure</vt:lpstr>
      <vt:lpstr> Flat (Flatarchy) Structure</vt:lpstr>
      <vt:lpstr>Network Structure</vt:lpstr>
      <vt:lpstr>How Structure Impacts Performance and Productivity</vt:lpstr>
      <vt:lpstr> Best Practices for Optimizing Organizational Structure</vt:lpstr>
      <vt:lpstr>Choosing the Right Structure: Key Factors</vt:lpstr>
      <vt:lpstr>Case Studies in Organizational Structure</vt:lpstr>
      <vt:lpstr> The Role of Leadership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DEFINE A FUNCTION AND DISCUSS DIFFERENT TYPE OF FUNCTION WITH EXAMPLE</dc:title>
  <dc:subject>DEFINE A FUNCTION AND DISCUSS DIFFERENT TYPE OF FUNCTION WITH EXAMPLE</dc:subject>
  <dc:creator>SlideMake.com</dc:creator>
  <cp:lastModifiedBy>Ayan Ghosh</cp:lastModifiedBy>
  <cp:revision>7</cp:revision>
  <dcterms:created xsi:type="dcterms:W3CDTF">2025-02-22T04:54:43Z</dcterms:created>
  <dcterms:modified xsi:type="dcterms:W3CDTF">2025-08-05T04:52:24Z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2025-02-22T00:00:00Z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2025-02-22T00:00:00Z</vt:filetime>
  </property>
  <property fmtid="{D5CDD505-2E9C-101B-9397-08002B2CF9AE}" pid="5" name="Producer">
    <vt:lpwstr>Microsoft® PowerPoint® 2021</vt:lpwstr>
  </property>
</Properties>
</file>